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8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9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0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Stayed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32</c:v>
                </c:pt>
                <c:pt idx="3">
                  <c:v>18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A-411A-AB86-36A2D8A23C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Left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18-24</c:v>
                </c:pt>
                <c:pt idx="1">
                  <c:v>25-34</c:v>
                </c:pt>
                <c:pt idx="2">
                  <c:v>35-44</c:v>
                </c:pt>
                <c:pt idx="3">
                  <c:v>45-54</c:v>
                </c:pt>
                <c:pt idx="4">
                  <c:v>55+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35</c:v>
                </c:pt>
                <c:pt idx="2">
                  <c:v>22</c:v>
                </c:pt>
                <c:pt idx="3">
                  <c:v>14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7A-411A-AB86-36A2D8A23C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B29-47F8-9A65-446A5DE16A0D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29-47F8-9A65-446A5DE16A0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Overtime</c:v>
                </c:pt>
                <c:pt idx="1">
                  <c:v>With Overtime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B29-47F8-9A65-446A5DE16A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WLB 1 (Poor)</c:v>
                </c:pt>
                <c:pt idx="1">
                  <c:v>WLB 2</c:v>
                </c:pt>
                <c:pt idx="2">
                  <c:v>WLB 3</c:v>
                </c:pt>
                <c:pt idx="3">
                  <c:v>WLB 4 (Excel.)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48</c:v>
                </c:pt>
                <c:pt idx="2">
                  <c:v>35</c:v>
                </c:pt>
                <c:pt idx="3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1C-49E9-B0C6-469505AF9F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44</c:v>
                </c:pt>
                <c:pt idx="2">
                  <c:v>30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F6-4127-AAC1-1E53EFC323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88-469F-B19F-34121EC03580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88-469F-B19F-34121EC0358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888-469F-B19F-34121EC0358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888-469F-B19F-34121EC0358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Stayed (52%)</c:v>
                </c:pt>
                <c:pt idx="1">
                  <c:v>Left (48%)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31200</c:v>
                </c:pt>
                <c:pt idx="1">
                  <c:v>28800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888-469F-B19F-34121EC03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AUC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0.65</c:v>
                </c:pt>
                <c:pt idx="1">
                  <c:v>0.77</c:v>
                </c:pt>
                <c:pt idx="2">
                  <c:v>0.82</c:v>
                </c:pt>
                <c:pt idx="3">
                  <c:v>0.85</c:v>
                </c:pt>
                <c:pt idx="4">
                  <c:v>0.87</c:v>
                </c:pt>
                <c:pt idx="5">
                  <c:v>0.88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36-4F14-AB8E-0F60B143CB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AUC</c:v>
                </c:pt>
              </c:strCache>
            </c:strRef>
          </c:tx>
          <c:spPr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200</c:v>
                </c:pt>
                <c:pt idx="2">
                  <c:v>400</c:v>
                </c:pt>
                <c:pt idx="3">
                  <c:v>600</c:v>
                </c:pt>
                <c:pt idx="4">
                  <c:v>800</c:v>
                </c:pt>
                <c:pt idx="5">
                  <c:v>1000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0.62</c:v>
                </c:pt>
                <c:pt idx="1">
                  <c:v>0.74</c:v>
                </c:pt>
                <c:pt idx="2">
                  <c:v>0.79</c:v>
                </c:pt>
                <c:pt idx="3">
                  <c:v>0.83</c:v>
                </c:pt>
                <c:pt idx="4">
                  <c:v>0.85</c:v>
                </c:pt>
                <c:pt idx="5">
                  <c:v>0.85299999999999998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36-4F14-AB8E-0F60B143CB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 Score</c:v>
                </c:pt>
                <c:pt idx="4">
                  <c:v>ROC-AUC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76.2</c:v>
                </c:pt>
                <c:pt idx="1">
                  <c:v>74.099999999999994</c:v>
                </c:pt>
                <c:pt idx="2">
                  <c:v>76</c:v>
                </c:pt>
                <c:pt idx="3">
                  <c:v>75</c:v>
                </c:pt>
                <c:pt idx="4">
                  <c:v>85.3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27-4553-992B-29F02E3AF7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Job Level</c:v>
                </c:pt>
                <c:pt idx="1">
                  <c:v>Marital Status</c:v>
                </c:pt>
                <c:pt idx="2">
                  <c:v>Remote Work</c:v>
                </c:pt>
                <c:pt idx="3">
                  <c:v>Work-Life Balance</c:v>
                </c:pt>
                <c:pt idx="4">
                  <c:v>No. of Promotions</c:v>
                </c:pt>
                <c:pt idx="5">
                  <c:v>Distance from Home</c:v>
                </c:pt>
                <c:pt idx="6">
                  <c:v>Education Level</c:v>
                </c:pt>
                <c:pt idx="7">
                  <c:v>No. of Dependents</c:v>
                </c:pt>
                <c:pt idx="8">
                  <c:v>Company Reputation</c:v>
                </c:pt>
                <c:pt idx="9">
                  <c:v>Years at Company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19.2</c:v>
                </c:pt>
                <c:pt idx="1">
                  <c:v>15.5</c:v>
                </c:pt>
                <c:pt idx="2">
                  <c:v>12.9</c:v>
                </c:pt>
                <c:pt idx="3">
                  <c:v>9.4</c:v>
                </c:pt>
                <c:pt idx="4">
                  <c:v>4.9000000000000004</c:v>
                </c:pt>
                <c:pt idx="5">
                  <c:v>4.9000000000000004</c:v>
                </c:pt>
                <c:pt idx="6">
                  <c:v>3.8</c:v>
                </c:pt>
                <c:pt idx="7">
                  <c:v>3.6</c:v>
                </c:pt>
                <c:pt idx="8">
                  <c:v>3.5</c:v>
                </c:pt>
                <c:pt idx="9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FC-4567-9C46-C38B597529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1B2A"/>
                </a:solidFill>
                <a:latin typeface="Arial"/>
              </a:rPr>
              <a:t>Top 10 SHAP Feature Contributions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Marital Status</c:v>
                </c:pt>
                <c:pt idx="1">
                  <c:v>Job Level</c:v>
                </c:pt>
                <c:pt idx="2">
                  <c:v>Work-Life Balance</c:v>
                </c:pt>
                <c:pt idx="3">
                  <c:v>Remote Work</c:v>
                </c:pt>
                <c:pt idx="4">
                  <c:v>Distance from Home</c:v>
                </c:pt>
                <c:pt idx="5">
                  <c:v>Company Reputation</c:v>
                </c:pt>
                <c:pt idx="6">
                  <c:v>Gender</c:v>
                </c:pt>
                <c:pt idx="7">
                  <c:v>No. of Dependents</c:v>
                </c:pt>
                <c:pt idx="8">
                  <c:v>No. of Promotions</c:v>
                </c:pt>
                <c:pt idx="9">
                  <c:v>Years at Company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15.3</c:v>
                </c:pt>
                <c:pt idx="1">
                  <c:v>14.4</c:v>
                </c:pt>
                <c:pt idx="2">
                  <c:v>11.3</c:v>
                </c:pt>
                <c:pt idx="3">
                  <c:v>11.1</c:v>
                </c:pt>
                <c:pt idx="4">
                  <c:v>6.3</c:v>
                </c:pt>
                <c:pt idx="5">
                  <c:v>5.9</c:v>
                </c:pt>
                <c:pt idx="6">
                  <c:v>5.9</c:v>
                </c:pt>
                <c:pt idx="7">
                  <c:v>4.5</c:v>
                </c:pt>
                <c:pt idx="8">
                  <c:v>3.9</c:v>
                </c:pt>
                <c:pt idx="9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24-44B5-AE8E-78CF298076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Risk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7BB-4962-AEBB-D9650B2098C3}"/>
              </c:ext>
            </c:extLst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BB-4962-AEBB-D9650B2098C3}"/>
              </c:ext>
            </c:extLst>
          </c:dPt>
          <c:dPt>
            <c:idx val="2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BB-4962-AEBB-D9650B2098C3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BB-4962-AEBB-D9650B2098C3}"/>
              </c:ext>
            </c:extLst>
          </c:dPt>
          <c:dPt>
            <c:idx val="4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BB-4962-AEBB-D9650B2098C3}"/>
              </c:ext>
            </c:extLst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BB-4962-AEBB-D9650B2098C3}"/>
              </c:ext>
            </c:extLst>
          </c:dPt>
          <c:dPt>
            <c:idx val="6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7BB-4962-AEBB-D9650B2098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Current State</c:v>
                </c:pt>
                <c:pt idx="1">
                  <c:v>Offer Remote Work</c:v>
                </c:pt>
                <c:pt idx="2">
                  <c:v>Improve WLB</c:v>
                </c:pt>
                <c:pt idx="3">
                  <c:v>Give Promotion</c:v>
                </c:pt>
                <c:pt idx="4">
                  <c:v>Increase Recognition</c:v>
                </c:pt>
                <c:pt idx="5">
                  <c:v>Remote + WLB</c:v>
                </c:pt>
                <c:pt idx="6">
                  <c:v>Full Recognition Plan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40.659999999999997</c:v>
                </c:pt>
                <c:pt idx="1">
                  <c:v>11.18</c:v>
                </c:pt>
                <c:pt idx="2">
                  <c:v>21.74</c:v>
                </c:pt>
                <c:pt idx="3">
                  <c:v>40.450000000000003</c:v>
                </c:pt>
                <c:pt idx="4">
                  <c:v>38.81</c:v>
                </c:pt>
                <c:pt idx="5">
                  <c:v>4.6100000000000003</c:v>
                </c:pt>
                <c:pt idx="6">
                  <c:v>4.57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7BB-4962-AEBB-D9650B2098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66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4592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Workforce Analytics · Predictive Modeling · Explainable 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486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14,900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Analyzed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47472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2688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47.3%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32688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Attrition Risk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 ·  CatBoost + SHAP + Streamlit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" y="1280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3–4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Data Analysis (EDA)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5–8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— CatBoost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9–12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&amp; Evaluation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13–15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16–17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03720" y="1280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(XAI)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18–19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09360" y="20116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0372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&amp; What-If Planning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20–21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6974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All Modules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037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22–24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3337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HR Recommendations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0372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25–26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4023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Acquired &amp; Key Learnings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|  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Employee Attrition Intelligence Platform?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costs organizations 33–200% of an employee's annual salary. HR teams struggle to identify at-risk employees proactively.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platform using CatBoost ML to predict attrition probability for each employee with explainability via SHAP values.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17373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Approach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data loading, EDA, model training, evaluation, to an interactive multi-page Streamlit dashboard.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383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Impact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3749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can prioritize retention efforts, run what-if scenarios, generate individual employee risk reports, and reduce voluntary turnover.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| 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 w="254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47.3%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Attrition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71323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4630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Challenges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01168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way to identify which employees will leave next month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487168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Reactive HR — only acts after resignation is submitted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962656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data-driven basis for retention budget allocation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3438144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Cannot measure which intervention (raise/remote/WLB) actually helps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391363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explainability — HR cannot understand why AI made its decision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09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Build a predictive AI platform that identifies at-risk employees, explains WHY, and simulates retention strategies.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 Test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35440" y="128016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371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3544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246888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Features: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83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Numerical Features (7)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·  Monthly Income  ·  Distance from Home  ·  Number of Promotions  ·  Years at Company  ·  Company Tenure  ·  Number of Dependents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29184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383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Categorical Features (15)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749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 ·  Job Role  ·  Work-Life Balance  ·  Job Satisfaction  ·  Marital Status  ·  Remote Work  ·  Education Level  ·  Job Level  ·  Overtime  ·  Company Size  ·  Company Reputation  ·  Employee Recognition  ·  Leadership Opportunities  ·  Innovation Opportunities  ·  Performance Rating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Attrition  →  'Stayed' (0) | 'Left' (1)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EXPLORATORY DATA ANALYSIS (EDA)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Key EDA Questions Investigated: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 vs Attrition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sns.histplot + KDE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Younger employees (22–35) show higher attrition rates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877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Monthly Income vs Attrition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sns.boxplot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Employees who left had significantly lower median income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34670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924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Overtime vs Attrition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210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pd.crosstab + countplot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82219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Employees doing overtime have 2x higher attrition risk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51376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1970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Job Satisfaction vs Attrition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425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pd.crosstab + countplot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62686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 satisfaction (level 1) correlates strongly with leaving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173736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Work-Life Balance vs Attrition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0116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pd.crosstab + countplot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221284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Poor WLB (level 1) shows highest attrition probability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2542032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258775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Leadership Opportunities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2816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pd.crosstab + countplot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46520" y="30175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Employees with no leadership opportunities leave more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3346704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39242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Employee Recognition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46520" y="362102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pd.crosstab + countplot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46520" y="3822192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Unrecognized employees have elevated attrition rates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4151376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41970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Company Reputation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4425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pd.crosstab + countplot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46520" y="462686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Poor company reputation (1–2) drives higher turnover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KEY EDA FINDINGS — ATTRITION DRIVERS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vs Attrition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55448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188720"/>
            <a:ext cx="5760720" cy="22860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0" y="1280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OT Workers vs Non-OT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035040" y="1554480"/>
          <a:ext cx="57607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56616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657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vs Attrition Rate (%)</a:t>
            </a:r>
            <a:endParaRPr lang="en-US" sz="11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365760" y="3840480"/>
          <a:ext cx="530352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6035040" y="3566160"/>
            <a:ext cx="576072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217920" y="3657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vs Attrition Rate (%)</a:t>
            </a:r>
            <a:endParaRPr lang="en-US" sz="1100" dirty="0"/>
          </a:p>
        </p:txBody>
      </p:sp>
      <p:graphicFrame>
        <p:nvGraphicFramePr>
          <p:cNvPr id="15" name="Chart 3"/>
          <p:cNvGraphicFramePr/>
          <p:nvPr/>
        </p:nvGraphicFramePr>
        <p:xfrm>
          <a:off x="6035040" y="3840480"/>
          <a:ext cx="576072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|  TARGET VARIABLE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59436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46304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 Balance Matters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0" y="1965960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The dataset is nearly balanced (52% Stayed, 48% Left), which means accuracy is NOT misleading — we don't need class weighting.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0" y="2532888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With ~31K 'Stayed' and ~28.8K 'Left' records, the model gets good exposure to both classes.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0" y="3099816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This balance allows ROC-AUC to be a reliable performance metric alongside accuracy.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0" y="3666744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CatBoost handles this slight imbalance natively without special preprocessing — one reason we chose it.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943600" y="4233672"/>
            <a:ext cx="5577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Final accuracy = 76.2%, AUC = 0.853 — strong results even without SMOTE or class_weight tricks.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MACHINE LEARNING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train.csv &amp; test.csv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check, head()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5740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8036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business questions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Visualized with seaborn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2044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34340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4612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Employee 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Attrition (0/1)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8348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0644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Split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/ y_train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/ y_test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4652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26948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Features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object cols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to CatBoost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0956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73252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Train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3524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iterations, depth=6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LR=0.05, AUC metric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37260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195560" y="1691640"/>
            <a:ext cx="594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F1, ROC-AUC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835640" y="1280160"/>
            <a:ext cx="822960" cy="82296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8356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515600" y="2240280"/>
            <a:ext cx="1371600" cy="22860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0" y="2331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561320" y="2834640"/>
            <a:ext cx="1280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values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 %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Python · Pandas · NumPy · Seaborn · Matplotlib · CatBoost · SHAP · Scikit-learn · Joblib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CATBOOST — WHY WE CHOSE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Native Categorical Support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handles categorical features (Gender, Job Role, Marital Status etc.) natively without manual encoding like LabelEncoder or OneHot. We just pass cat_features list.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High Performance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on decision trees — one of the top-performing algorithms for tabular data, competing with XGBoost and LightGBM, often beating them on small-medium datasets.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78608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670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Less Overfitting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03580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uses ordered boosting and symmetric trees that inherently reduce overfitting, achieving better generalization on held-out test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578608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670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AUC as Eval Metric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03580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eval_metric='AUC' with 1000 iterations. This ensures the model optimizes for the metric that matters most for imbalanced classification problems.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968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SHAP Compatible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33425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integrates directly with SHAP library, allowing us to compute TreeExplainer SHAP values and understand individual prediction contributions.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877056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9684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Joblib Serialization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33425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as .joblib file and .pkl for production use. Loaded in Streamlit dashboard for real-time inference without retraining.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MODEL CONFIGURATION &amp; HYPERPARAMETERS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7687" y="1286521"/>
            <a:ext cx="5943600" cy="347472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CatBoost Configuration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catboost import CatBoostClassifier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195681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CatBoostClassifier(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iterations   = 1000,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61518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depth        = 6,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 = 0.05,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05409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loss_function = 'Logloss',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27355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eval_metric  = 'AUC',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49300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verbose      = 100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71246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931920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15137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y_train,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370832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cat_features=cat_features)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75120" y="1280160"/>
            <a:ext cx="502920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Rationale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1874520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8928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iterations = 1000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12140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trees = better learning, early stopping prevents overfitting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2459736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47802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depth =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03720" y="27066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tree depth — complex enough to learn patterns, not overfit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3044952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063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 = 0.05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3291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LR ensures stable convergence of gradient boosting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3630168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64845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loss_function = Logloss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03720" y="38770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loss for classification (0/1 target)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4215384"/>
            <a:ext cx="4846320" cy="530352"/>
          </a:xfrm>
          <a:prstGeom prst="roundRect">
            <a:avLst>
              <a:gd name="adj" fmla="val 10345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2336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eval_metric = AUC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0372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area under ROC curve, not just raw accuracy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completed on ~47K rows · Saved to models/catboost_model.joblib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|  DATA PREPROCESSING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353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Train &amp; Test 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82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train_df = pd.read_csv('Dataset/train.csv')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test_df = pd.read_csv('Dataset/test.csv')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4300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~47K train rows, ~14.9K test 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3533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Employee ID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1682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train_df.drop('Employee ID', axis=1)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95160" y="2176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 is not a predictive feature — removed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78608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8986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 Variable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9809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 = {'Stayed':0, 'Left':1}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train_df['Attrition'].map(mapping)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3000" y="3474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Binary classification target (0/1)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2578608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289864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898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Feature Split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29809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train_df.drop('Attrition', axis=1)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y_train = train_df['Attrition']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4747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X and y separation for CatBoost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77056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419709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Cat Features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4279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cat_features = X_train.select_dtypes(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include=['object','string']).columns.tolist()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300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15 categorical features auto-identified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3877056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419709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9516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Encoding Needed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95160" y="4279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CatBoost handles categoricals natively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no LabelEncoder, no get_dummies()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9516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Saves preprocessing time, avoids info loss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|  MODEL PERFORMANCE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76.2%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~74%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35440" y="12801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3544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~76%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235440" y="2468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00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 Progression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" y="3429000"/>
          <a:ext cx="54864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6217920" y="310896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32004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Summary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566160"/>
          <a:ext cx="5120640" cy="146304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Predicted Stay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Predicted Leave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Actual Stay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TP: ~8,100 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FP: ~2,400 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6B6D4"/>
                          </a:solidFill>
                        </a:rPr>
                        <a:t>Actual Leave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FN: ~1,100 ❌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TN: ~3,300 ✅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|  UNDERSTANDING EVALUATION METRICS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59436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3716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Definitions &amp; Business Meaning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1874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(76.2%)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2148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employees, 76.2% were correctly classified as 'Stay' or 'Leave'. Reliable here due to balanced classes.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25328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(~74%)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8072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model predicts 'Leave', it's correct 74% of the time. Low false alarm rate — HR won't chase false positives.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43600" y="31912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(~76%)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46557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catches 76% of actual leavers. High recall = fewer employees who plan to leave go undetected.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384962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(0.853)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412394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correctly distinguish between leavers and stayers 85.3% of the time. Excellent for HR decisions.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43600" y="450799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(~75%)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0" y="47823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balanced view. Useful when both false positives and negatives matter.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457200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461772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ROC-AUC of 0.853 means the model is a reliable decision-support tool for HR teams to prioritize retention interventions.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|  EMPLOYEE RISK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1463040"/>
            <a:ext cx="1371600" cy="13716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38.9%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0–40% probability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~5,800 Employees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engagement programs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463040"/>
            <a:ext cx="1371600" cy="13716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8912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40–70% probability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~4,400 Employees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check-ins &amp; WLB review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21040" y="1280160"/>
            <a:ext cx="3566160" cy="3291840"/>
          </a:xfrm>
          <a:prstGeom prst="roundRect">
            <a:avLst>
              <a:gd name="adj" fmla="val 4167"/>
            </a:avLst>
          </a:prstGeom>
          <a:solidFill>
            <a:srgbClr val="1E3A5F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0" y="1463040"/>
            <a:ext cx="1371600" cy="137160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2926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70–100% probability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~4,700 Employees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5820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retention intervention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11247120" cy="411480"/>
          </a:xfrm>
          <a:prstGeom prst="roundRect">
            <a:avLst>
              <a:gd name="adj" fmla="val 13333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754880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4,700 High Risk employees need IMMEDIATE retention action — estimated cost of losing them: $14M+ if not retained.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|  FEATURE IMPORTANCE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6858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2344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4 Driver Analysis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80960" y="18288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#1  Job Level — 19.2%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818120" y="21488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employees leave less; junior/mid-level employees are most at risk. Career ladder matters most.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80960" y="2633472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#2  Marital Status — 15.5%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818120" y="29535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tend to leave more — less rooted, more mobile, open to relocation for opportunities.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680960" y="3438144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34838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#3  Remote Work — 12.9%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18120" y="37581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WITHOUT remote work option leave far more. Flexibility is a top retention lever.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80960" y="4242816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288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#4  Work-Life Balance — 9.4%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818120" y="45628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WLB consistently correlates with attrition across all demographic segments.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|  COMPLETE FEATURE IMPORTANCE TABLE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29413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Importance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1. Job Level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19.25%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2. Marital Status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15.54%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3. Remote Work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12.88%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4. Work-Life Balance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9.37%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5. Number of Promotions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4.90%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6. Distance from Home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4.89%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7. Education Level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3.83%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8. Number of Dependents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3.63%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9. Company Reputation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3.49%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10. Years at Company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3.47%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11. Monthly Income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2.82%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188720"/>
          <a:ext cx="5760720" cy="29413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</a:rPr>
                        <a:t>Importance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12. Gender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2.67%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13. Company Tenure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2.49%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14. Job Satisfaction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2.33%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15. Age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2.24%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16. Performance Rating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1.82%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17. Company Size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1.25%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18. Overtime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1.02%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19. Employee Recognition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20. Job Role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0.52%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21. Innovation Opportunities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0.37%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22. Leadership Opportunities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0.22%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800600"/>
            <a:ext cx="11247120" cy="365760"/>
          </a:xfrm>
          <a:prstGeom prst="roundRect">
            <a:avLst>
              <a:gd name="adj" fmla="val 15000"/>
            </a:avLst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48280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CatBoost model.feature_importances_ — computed using permutation-based importance on training data.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|  SHAP EXPLAINABILITY (XAI)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SHAP?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= SHapley Additive exPlanations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game-theory approach that explains the output of any ML model by computing each feature's contribution to the prediction.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TreeExplainer for CatBoost — efficient SHAP calculation for tree-based models.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employee: SHAP tells us exactly WHICH features pushed the prediction toward 'Leave' or 'Stay'.</a:t>
            </a:r>
            <a:endParaRPr lang="en-US" sz="11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760720" y="123444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069080"/>
            <a:ext cx="11247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41605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vs Feature Importance — Key Difference: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4805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= global ranking of which features the model uses most overall. SHAP = individual-level contribution explaining WHY a specific employee got that risk score. SHAP is more explainable to HR teams and regulators.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|  SHAP BUSINESS INTERPRETATIONS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(15.3%)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contribute the most to attrition predictions. They are statistically more mobile and less bound by family commitments.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3716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Level (14.4%)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employees (Job Level 1–2) have the highest SHAP impact on leaving. Career progression programs are essential.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517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(11.3%)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WLB significantly pushes prediction toward 'Leave'. Companies must monitor burnout and workload distribution.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6517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(11.1%)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01752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without remote work options are heavily predicted to leave. Flexible work is no longer optional.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319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Home (6.3%)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commutes are a significant retention risk. Commuting burden increases attrition probability substantially.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319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Reputation (5.9%)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429768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at companies with poor reputation (1–2 rating) are more likely to seek opportunities elsewhere.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79675" y="5340096"/>
            <a:ext cx="11247120" cy="365760"/>
          </a:xfrm>
          <a:prstGeom prst="roundRect">
            <a:avLst>
              <a:gd name="adj" fmla="val 15000"/>
            </a:avLst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828032"/>
            <a:ext cx="10881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b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b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SHAP insights are also generated by Phi-3 local LLM in the Streamlit dashboard's AI Insights module.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|  SCENARIO ANALYSIS — WHAT-IF PLANNING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can HR reduce attrition risk through different retention strategies?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Results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589520" y="187452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2668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26680" y="2176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40.66%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326880" y="1920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253288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726680" y="2578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Only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26680" y="2834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11.18%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26880" y="257860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-29.5%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89520" y="319125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726680" y="32369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WLB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26680" y="34930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21.74%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26880" y="32369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-18.9%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89520" y="384962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26680" y="38953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+ WLB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26680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4.61%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0" y="38953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-36.1%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89520" y="450799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26680" y="4553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Recognition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26680" y="48097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326880" y="45537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-36.1%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57200" y="5193792"/>
            <a:ext cx="11247120" cy="411480"/>
          </a:xfrm>
          <a:prstGeom prst="roundRect">
            <a:avLst>
              <a:gd name="adj" fmla="val 1555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23036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Strategy: 'Full Recognition Plan' reduces risk from 40.66% → 4.57% — a 36.1% reduction in attrition risk.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|  WHAT-IF SCENARIO — BUSINESS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Remote 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Remote = 'Yes' for all employees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drops from 40.66% → 11.18%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Remote work is the single most impactful retention lever — addresses the #3 feature driver directly.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Improve WLB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Work-Life Balance rating set to 4 (Excellent)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drops from 40.66% → 21.74%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Better WLB reduces attrition by half — HR should implement flexibility policies and limit mandatory OT.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Give Promotion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1737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Number of Promotions increased by 1 for 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0116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only drops to 40.45% — minimal impact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28600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Promotions alone don't help much — employees also want flexibility and balance, not just titles.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017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Remote + WLB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3832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Logic: Remote = 'Yes' AND WLB = 4 simultaneously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6576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drops from 40.66% → 4.61%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39319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Combining strategies creates compound effect — the best double combination in this dataset.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112471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70916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Methodology: Modify test features for each scenario, re-run CatBoost inference, compare average predicted probability to baseline.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|  STREAMLIT DASHBOARD — ALL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2984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Main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618488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risk distribution, top 10 high-risk employees, segmentation bar chart, AI executive summary.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0" y="12344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07408" y="12984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Employee Explorer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07408" y="1618488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employee, view their full profile, risk score, category, and individual prediction.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2344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9328" y="1298448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Feature Importance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39328" y="1618488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bar chart of CatBoost feature importances with business interpretation panel.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21992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2860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Scenario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2606040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policy simulation — test 7 HR strategies and view risk reduction outcomes.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221992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07408" y="22860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Fairness Analysis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07408" y="2606040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algorithmic bias across Gender and other protected attributes — ensures ethical AI.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0" y="2221992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9328" y="22860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Alerts Dashboard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9328" y="2606040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high-risk employee alerts. Lists all employees above 70% attrition probability.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09544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3273552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SHAP Explainability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593592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 percentages, SHAP bar chart, pie chart, + AI explanation via Phi-3 LLM.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3209544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07408" y="3273552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Employee Twin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07408" y="3593592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employee, modify their attributes (give remote work, increase WLB), see risk change instantly.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0" y="3209544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39328" y="3273552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Insights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39328" y="3593592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Workforce Intelligence Center — uses Phi-3 local LLM to generate executive narratives.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197096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4261104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PDF Report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4581144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individual employee PDF report with risk score, profile, and retention recommendation.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4197096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07408" y="4261104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HR AI Assistant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07408" y="4581144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HR assistant — ask questions about workforce data, get AI-powered answers.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0" y="4197096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39328" y="4261104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AI Executive Report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39328" y="4581144"/>
            <a:ext cx="34381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AI-generated executive PDF report summarizing workforce health, trends, and recommendations.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| 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657600" cy="388620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🐍 Data Science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836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596896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&amp;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364992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198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37124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4133088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(accuracy, AUC, F1)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1234440"/>
            <a:ext cx="3657600" cy="388620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Machine Learning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98848" y="1828800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8836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classification model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98848" y="2596896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651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(TreeExplainer)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98848" y="3364992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4198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7720" y="37124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serialization &amp; loading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98848" y="4133088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(Phi-3)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17720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for AI narrative generation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21040" y="1234440"/>
            <a:ext cx="3657600" cy="388620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58200" y="1325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Visualization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430768" y="1828800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9640" y="18836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49640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data visualization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30768" y="2596896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2651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4964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plots and charts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430768" y="3364992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49640" y="34198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549640" y="371246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dashboard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430768" y="4133088"/>
            <a:ext cx="3438144" cy="685800"/>
          </a:xfrm>
          <a:prstGeom prst="roundRect">
            <a:avLst>
              <a:gd name="adj" fmla="val 933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49640" y="41879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49640" y="4480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5257800"/>
            <a:ext cx="11247120" cy="411480"/>
          </a:xfrm>
          <a:prstGeom prst="roundRect">
            <a:avLst>
              <a:gd name="adj" fmla="val 15556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294376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Stack: Python · CatBoost · SHAP · Streamlit · Phi-3 LLM · ReportLab · Joblib · Pandas · Matplotlib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|  ADVANCED DASHBOARD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 Employee Twin Simulation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employee → modify their attributes (enable remote work, change WLB, get promotion) → model re-runs instantly to show new risk score. This allows HR to test what specific changes would actually help each employee.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51206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523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Interactive real-time inference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383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AI Fairness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8404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the model treats different gender groups equitably. Computes average predicted risk per gender group to detect systematic bias. Ensures the AI is ethically responsible.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4800600"/>
            <a:ext cx="51206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809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Algorithmic bias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325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Phi-3 LLM Integration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17830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Phi-3 language model (via Ollama) generates human-readable HR narratives from model outputs — explaining SHAP results, generating executive summaries, and powering the HR AI Assistant chatbot.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2743200"/>
            <a:ext cx="51206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7523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On-device AI, no API needed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 PDF Report Generation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38404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employee: generates a personalized PDF with their risk profile, SHAP-driven reasons, and tailored retention recommendations. Also generates AI-powered executive PDF reports.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4800600"/>
            <a:ext cx="5120640" cy="274320"/>
          </a:xfrm>
          <a:prstGeom prst="roundRect">
            <a:avLst>
              <a:gd name="adj" fmla="val 16667"/>
            </a:avLst>
          </a:prstGeom>
          <a:solidFill>
            <a:srgbClr val="0891B2">
              <a:alpha val="8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8097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ReportLab-powered reports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|  BUSINESS INSIGHTS &amp;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533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Remote Work is the #1 Retention Lever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remote work reduces average attrition risk from 40.66% to 11.18% — the single most impactful intervention. More powerful than raises or promotions.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Impact: -29.5% 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5331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Work-Life Balance Drives Turnover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17190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WLB rating of 1 have 62% attrition rate vs 21% for WLB 4. Investing in flexible schedules and reduced overtime directly addresses this.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226771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Impact: -18.9% 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578608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Junior Employees Are Most Vulnerable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Level (19.2% importance) shows junior employees leave most. Without clear career growth paths, companies lose their talent pipeline early.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Career path programs needed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578608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6517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💍  Marital Status Signals Mobility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017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employees (SHAP: 15.3%) are significantly more likely to leave. They need stronger engagement — community, mentorship, and purpose-driven work.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Targeted engagement plans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Long Commutes Hurt Retention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3159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Home (6.3% SHAP) is a notable driver. Companies near employee homes or offering remote options have better retention.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" y="4864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Remote/hybrid policy needed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877056"/>
            <a:ext cx="5394960" cy="1188720"/>
          </a:xfrm>
          <a:prstGeom prst="roundRect">
            <a:avLst>
              <a:gd name="adj" fmla="val 7692"/>
            </a:avLst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95020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Recognition Matters Significantly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431596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recognition plan reduces risk to 4.57%. Employee recognition programs — though lower individual impact — compound with other strategies.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4864608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Full plan: -36.1% Risk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|  HR STRATEGIC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7490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(High Risk: &gt;70%)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Personally reach out to top 50 high-risk employees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560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Offer remote work option where feasible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31012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Schedule 1-on-1 manager conversations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405993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Review compensation for junior job levels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234440"/>
            <a:ext cx="37490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261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(Moderate Risk: 40-70%)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18105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Design flexible work-from-home policy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2560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Launch structured career development programs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6280" y="331012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Improve Work-Life Balance via workload audits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405993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Introduce quarterly employee recognition awards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23444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52400" dist="508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234440"/>
            <a:ext cx="37490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26187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 (All Employees)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181051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Build mentorship programs for single employees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2560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Survey employees about commute burden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331012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Invest in company reputation &amp; employer branding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58200" y="4059936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Use Employee Twin module monthly for monitoring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76672"/>
            <a:ext cx="11247120" cy="411480"/>
          </a:xfrm>
          <a:prstGeom prst="roundRect">
            <a:avLst>
              <a:gd name="adj" fmla="val 1555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13248"/>
            <a:ext cx="10881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Employee Twin module in the dashboard allows HR to simulate specific interventions for each employee before committing resources.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|  SKILLS ACQUIRED FROM THIS PROJECT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3657600" cy="1810512"/>
          </a:xfrm>
          <a:prstGeom prst="roundRect">
            <a:avLst>
              <a:gd name="adj" fmla="val 5051"/>
            </a:avLst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5331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 Science &amp; EDA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76479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Exploratory Data Analysis with Pandas, Seaborn, Matplotlib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5488" y="207568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Asking business-driven EDA questions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2386584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 distribution analysis &amp; class balance understanding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69748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Cross-tabulation for categorical feature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261872"/>
            <a:ext cx="3657600" cy="1810512"/>
          </a:xfrm>
          <a:prstGeom prst="roundRect">
            <a:avLst>
              <a:gd name="adj" fmla="val 5051"/>
            </a:avLst>
          </a:prstGeom>
          <a:solidFill>
            <a:srgbClr val="1E3A5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35331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Machine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07408" y="176479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CatBoost gradient boosting from scratch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7408" y="207568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Hyperparameter configuration (iterations, depth, LR)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07408" y="2386584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Binary classification pipeline end-to-end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07408" y="269748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serialization with Joblib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0" y="1261872"/>
            <a:ext cx="3657600" cy="1810512"/>
          </a:xfrm>
          <a:prstGeom prst="roundRect">
            <a:avLst>
              <a:gd name="adj" fmla="val 5051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1353312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Explainable AI (XAI)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9328" y="176479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TreeExplainer for model interpretability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39328" y="207568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importance vs SHAP difference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39328" y="2386584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Individual prediction explanation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39328" y="269748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ethics &amp; fairness analysis concepts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3657600" cy="1810512"/>
          </a:xfrm>
          <a:prstGeom prst="roundRect">
            <a:avLst>
              <a:gd name="adj" fmla="val 5051"/>
            </a:avLst>
          </a:prstGeom>
          <a:solidFill>
            <a:srgbClr val="1E3A5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2918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Dashboard Development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70332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Multi-page Streamlit application architecture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4014216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ML inference in web apps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32511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Scenario simulation UI design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463600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report generation with ReportLab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0" y="3200400"/>
            <a:ext cx="3657600" cy="1810512"/>
          </a:xfrm>
          <a:prstGeom prst="roundRect">
            <a:avLst>
              <a:gd name="adj" fmla="val 5051"/>
            </a:avLst>
          </a:prstGeom>
          <a:solidFill>
            <a:srgbClr val="1E3A5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07408" y="32918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Model Evaluation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07408" y="370332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ROC-AUC, Accuracy, Precision, Recall, F1 Score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07408" y="4014216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Confusion matrix interpretation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07408" y="432511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impact translation of metrics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07408" y="463600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segmentation (Low/Moderate/High)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29600" y="3200400"/>
            <a:ext cx="3657600" cy="1810512"/>
          </a:xfrm>
          <a:prstGeom prst="roundRect">
            <a:avLst>
              <a:gd name="adj" fmla="val 5051"/>
            </a:avLst>
          </a:prstGeom>
          <a:solidFill>
            <a:srgbClr val="1E3A5F"/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32918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Software Engineering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339328" y="3703320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End-to-end ML project structure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39328" y="4014216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Python code across multiple files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339328" y="4325112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LLM integration (Ollama + Phi-3)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39328" y="4636008"/>
            <a:ext cx="3438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CSV/Joblib pipeline for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kern="0" spc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Intelligence Platform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66751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83464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14,900 employees analyzed with 76.2% accuracy &amp; 0.853 ROC-AUC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320040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CatBoost + SHAP: Explainable AI-driven workforce analytics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356616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12-module interactive Streamlit dashboard built from scratch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393192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Scenario analysis proves Remote Work + WLB = 36% risk reduction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4297680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PDF reports, Employee Twin, HR AI Assistant — production-ready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57607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7091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 using Python · CatBoost · SHAP · Streamlit · Phi-3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3679</Words>
  <Application>Microsoft Office PowerPoint</Application>
  <PresentationFormat>Widescreen</PresentationFormat>
  <Paragraphs>575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Intelligence Platform</dc:title>
  <dc:subject>PptxGenJS Presentation</dc:subject>
  <dc:creator>Data Science Project</dc:creator>
  <cp:lastModifiedBy>jerry james</cp:lastModifiedBy>
  <cp:revision>2</cp:revision>
  <dcterms:created xsi:type="dcterms:W3CDTF">2026-06-20T06:08:19Z</dcterms:created>
  <dcterms:modified xsi:type="dcterms:W3CDTF">2026-06-20T06:34:09Z</dcterms:modified>
</cp:coreProperties>
</file>